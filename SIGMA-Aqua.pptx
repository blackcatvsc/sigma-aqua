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embeddedFontLst>
    <p:embeddedFont>
      <p:font typeface="Merriweather Light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B4009E-EB0E-4017-8A0F-21330B39520A}">
  <a:tblStyle styleId="{43B4009E-EB0E-4017-8A0F-21330B3952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MerriweatherLight-regular.fntdata"/><Relationship Id="rId19" Type="http://schemas.openxmlformats.org/officeDocument/2006/relationships/font" Target="fonts/MerriweatherLight-bold.fntdata"/><Relationship Id="rId20" Type="http://schemas.openxmlformats.org/officeDocument/2006/relationships/font" Target="fonts/MerriweatherLight-italic.fntdata"/><Relationship Id="rId21" Type="http://schemas.openxmlformats.org/officeDocument/2006/relationships/font" Target="fonts/MerriweatherLight-boldItalic.fntdata"/><Relationship Id="rId22" Type="http://schemas.openxmlformats.org/officeDocument/2006/relationships/font" Target="fonts/Merriweather-regular.fntdata"/><Relationship Id="rId23" Type="http://schemas.openxmlformats.org/officeDocument/2006/relationships/font" Target="fonts/Merriweather-bold.fntdata"/><Relationship Id="rId24" Type="http://schemas.openxmlformats.org/officeDocument/2006/relationships/font" Target="fonts/Merriweather-italic.fntdata"/><Relationship Id="rId25" Type="http://schemas.openxmlformats.org/officeDocument/2006/relationships/font" Target="fonts/Merriweather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6e966bdd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g3fb6e966bdd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fb6e966bdd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6e966bdd_1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3fb6e966bdd_1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b6e966bdd_1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" name="Google Shape;9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719814" y="1864618"/>
            <a:ext cx="6180181" cy="642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4000"/>
              <a:buFont typeface="Merriweather"/>
              <a:buNone/>
            </a:pPr>
            <a:r>
              <a:rPr b="0" i="0" lang="en-US" sz="4000" u="none" cap="none" strike="noStrike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SIGMA-Aqua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719814" y="2815828"/>
            <a:ext cx="6789766" cy="329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00"/>
              <a:buFont typeface="Merriweather"/>
              <a:buNone/>
            </a:pPr>
            <a:r>
              <a:rPr b="1" i="0" lang="en-US" sz="16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Sistema Integrado de Gestión y Monitorización Acuícola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719814" y="3376216"/>
            <a:ext cx="3114101" cy="312440"/>
          </a:xfrm>
          <a:prstGeom prst="roundRect">
            <a:avLst>
              <a:gd fmla="val 22120" name="adj"/>
            </a:avLst>
          </a:prstGeom>
          <a:solidFill>
            <a:srgbClr val="001D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843140" y="3437830"/>
            <a:ext cx="3477034" cy="18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b="0" i="0" lang="en-US" sz="125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BDY1103 · EVALUACIÓN PARCIAL N°1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719814" y="3791446"/>
            <a:ext cx="3294079" cy="312440"/>
          </a:xfrm>
          <a:prstGeom prst="roundRect">
            <a:avLst>
              <a:gd fmla="val 22120" name="adj"/>
            </a:avLst>
          </a:prstGeom>
          <a:noFill/>
          <a:ln cap="flat" cmpd="sng" w="9525">
            <a:solidFill>
              <a:srgbClr val="609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843140" y="3853061"/>
            <a:ext cx="3657012" cy="189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09DFF"/>
              </a:buClr>
              <a:buSzPts val="1250"/>
              <a:buFont typeface="Merriweather"/>
              <a:buNone/>
            </a:pPr>
            <a:r>
              <a:rPr b="0" i="0" lang="en-US" sz="1250" u="none" cap="none" strike="noStrike">
                <a:solidFill>
                  <a:srgbClr val="609DFF"/>
                </a:solidFill>
                <a:latin typeface="Merriweather"/>
                <a:ea typeface="Merriweather"/>
                <a:cs typeface="Merriweather"/>
                <a:sym typeface="Merriweather"/>
              </a:rPr>
              <a:t>ORACLE 21C · PL/SQL · DATA MODELER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719814" y="4335264"/>
            <a:ext cx="6180181" cy="658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00"/>
              <a:buFont typeface="Merriweather"/>
              <a:buNone/>
            </a:pPr>
            <a:r>
              <a:rPr b="0" i="0" lang="en-US" sz="1600" u="none" cap="none" strike="noStrike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Matías Jeldres · Ignacio Salazar · Luciano Garrido · Septiembre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719814" y="623193"/>
            <a:ext cx="6180181" cy="1084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400"/>
              <a:buFont typeface="Merriweather"/>
              <a:buNone/>
            </a:pPr>
            <a:r>
              <a:rPr lang="en-US" sz="34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Introducción y Contexto del Negocio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719814" y="1927423"/>
            <a:ext cx="6180181" cy="1023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SIGMA-Aqua es una base de datos corporativa para controlar administración, biometría y operaciones en centros de cultivo de salmónidos, con trazabilidad veterinaria y cumplimiento de resoluciones sanitarias de concesión territorial.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719814" y="3115667"/>
            <a:ext cx="3016869" cy="1998166"/>
          </a:xfrm>
          <a:prstGeom prst="roundRect">
            <a:avLst>
              <a:gd fmla="val 3648" name="adj"/>
            </a:avLst>
          </a:prstGeom>
          <a:solidFill>
            <a:srgbClr val="003180"/>
          </a:solidFill>
          <a:ln cap="flat" cmpd="sng" w="95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899693" y="3295551"/>
            <a:ext cx="2657111" cy="27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Merriweather"/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899693" y="3654524"/>
            <a:ext cx="2657111" cy="1279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Trasladar lógica crítica y cálculos biométricos al motor Oracle 21c con PL/SQL, eliminando latencia cliente-servidor.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3883027" y="3115667"/>
            <a:ext cx="3016968" cy="1998166"/>
          </a:xfrm>
          <a:prstGeom prst="roundRect">
            <a:avLst>
              <a:gd fmla="val 3648" name="adj"/>
            </a:avLst>
          </a:prstGeom>
          <a:solidFill>
            <a:srgbClr val="003180"/>
          </a:solidFill>
          <a:ln cap="flat" cmpd="sng" w="95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062906" y="3295551"/>
            <a:ext cx="2657210" cy="27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Merriweather"/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Alcance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062906" y="3654524"/>
            <a:ext cx="2657210" cy="76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Infraestructura, lotes, nutrición, sanidad y logística de traslados.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719814" y="5260181"/>
            <a:ext cx="6180181" cy="974626"/>
          </a:xfrm>
          <a:prstGeom prst="roundRect">
            <a:avLst>
              <a:gd fmla="val 7479" name="adj"/>
            </a:avLst>
          </a:prstGeom>
          <a:solidFill>
            <a:srgbClr val="003180"/>
          </a:solidFill>
          <a:ln cap="flat" cmpd="sng" w="95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899693" y="5440065"/>
            <a:ext cx="5820423" cy="27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00"/>
              <a:buFont typeface="Merriweather"/>
              <a:buNone/>
            </a:pPr>
            <a:r>
              <a:rPr lang="en-US" sz="17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Tecnologías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899693" y="5799038"/>
            <a:ext cx="5820423" cy="255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Oracle 21c, SQL Developer Data Modeler 24.3 y PL/SQL.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719814" y="579537"/>
            <a:ext cx="10752067" cy="512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200"/>
              <a:buFont typeface="Merriweather"/>
              <a:buNone/>
            </a:pPr>
            <a:r>
              <a:rPr lang="en-US" sz="32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Reglas de Negocio Críticas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814" y="1856680"/>
            <a:ext cx="6848899" cy="3852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4904" y="1434505"/>
            <a:ext cx="3503326" cy="145921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8234057" y="1617464"/>
            <a:ext cx="3061219" cy="256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00"/>
              <a:buFont typeface="Merriweather"/>
              <a:buNone/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RN-001 · Biomasa Máxima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234057" y="2004120"/>
            <a:ext cx="3061219" cy="70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Biomasa centro ≤ Volumen (m³) × Densidad Máxima (kg/m³). Se valida en tiempo real por centro de cultivo.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4904" y="3024287"/>
            <a:ext cx="3503326" cy="169475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8234057" y="3207246"/>
            <a:ext cx="3061219" cy="256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600"/>
              <a:buFont typeface="Merriweather"/>
              <a:buNone/>
            </a:pPr>
            <a:r>
              <a:rPr lang="en-US" sz="16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RN-002 · Bloqueo Sanitario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8234057" y="3593902"/>
            <a:ext cx="3061219" cy="942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Prohibido operar lotes en zonas bajo </a:t>
            </a:r>
            <a:r>
              <a:rPr b="1"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'CUARENTENA'</a:t>
            </a: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o </a:t>
            </a:r>
            <a:r>
              <a:rPr b="1"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'DESCANSO SANITARIO'</a:t>
            </a: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. Bloqueo automático por sistema.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7974904" y="4865985"/>
            <a:ext cx="3503326" cy="1265436"/>
          </a:xfrm>
          <a:prstGeom prst="roundRect">
            <a:avLst>
              <a:gd fmla="val 5440" name="adj"/>
            </a:avLst>
          </a:prstGeom>
          <a:solidFill>
            <a:srgbClr val="003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8810" y="5065514"/>
            <a:ext cx="204882" cy="16390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8507597" y="5024438"/>
            <a:ext cx="2806729" cy="948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erriweather"/>
              <a:buNone/>
            </a:pPr>
            <a:r>
              <a:rPr lang="en-US" sz="125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Estas reglas se implementan con excepciones definidas por el usuario (</a:t>
            </a:r>
            <a:r>
              <a:rPr lang="en-US" sz="1250">
                <a:solidFill>
                  <a:srgbClr val="FFFFFF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RAISE</a:t>
            </a:r>
            <a:r>
              <a:rPr lang="en-US" sz="125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), alineadas a estándares de Sernapesca.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95556" y="6582305"/>
            <a:ext cx="1196444" cy="228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719814" y="565646"/>
            <a:ext cx="10752067" cy="321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2000"/>
              <a:buFont typeface="Merriweather"/>
              <a:buNone/>
            </a:pPr>
            <a:r>
              <a:rPr lang="en-US" sz="2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Tipos de Datos Compuestos: RECORD y VARRAY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719814" y="1215305"/>
            <a:ext cx="525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1000"/>
              <a:buFont typeface="Merriweather"/>
              <a:buNone/>
            </a:pPr>
            <a:r>
              <a:rPr lang="en-US" sz="1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VARRAY — </a:t>
            </a:r>
            <a:r>
              <a:rPr lang="en-US" sz="100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t_raciones_diarias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719814" y="1453485"/>
            <a:ext cx="5250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erriweather"/>
              <a:buNone/>
            </a:pPr>
            <a:r>
              <a:rPr lang="en-US" sz="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Colección de tamaño fijo (4 elementos). El protocolo en centros de mar establece exactamente </a:t>
            </a:r>
            <a:r>
              <a:rPr b="1" lang="en-US" sz="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4 turnos de alimentación</a:t>
            </a:r>
            <a:r>
              <a:rPr lang="en-US" sz="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al día: mañana, mediodía, tarde y noche. Acota memoria en PGA y previene turnos no autorizados.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719814" y="2606912"/>
            <a:ext cx="5250600" cy="12600"/>
          </a:xfrm>
          <a:prstGeom prst="roundRect">
            <a:avLst>
              <a:gd fmla="val 49999" name="adj"/>
            </a:avLst>
          </a:prstGeom>
          <a:solidFill>
            <a:srgbClr val="E2E6E9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719814" y="1911104"/>
            <a:ext cx="525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1000"/>
              <a:buFont typeface="Merriweather"/>
              <a:buNone/>
            </a:pPr>
            <a:r>
              <a:rPr lang="en-US" sz="1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RECORD — </a:t>
            </a:r>
            <a:r>
              <a:rPr lang="en-US" sz="100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r_resumen_lote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719814" y="2157459"/>
            <a:ext cx="5250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erriweather"/>
              <a:buNone/>
            </a:pPr>
            <a:r>
              <a:rPr lang="en-US" sz="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Estructura heterogénea que reúne en una entidad de memoria: ID, especie, peces vivos, peso medio, biomasa total, el VARRAY de raciones y el consumo total del día. Facilita transferir paquetes completos de datos entre rutinas operativas.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1582" y="1021854"/>
            <a:ext cx="5250623" cy="5250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5556" y="6582305"/>
            <a:ext cx="1196444" cy="22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19500"/>
            <a:ext cx="6252349" cy="419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/>
          <p:nvPr/>
        </p:nvSpPr>
        <p:spPr>
          <a:xfrm>
            <a:off x="719814" y="565646"/>
            <a:ext cx="10752067" cy="321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2000"/>
              <a:buFont typeface="Merriweather"/>
              <a:buNone/>
            </a:pPr>
            <a:r>
              <a:rPr lang="en-US" sz="2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Cursores Explícitos Complejos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719814" y="989707"/>
            <a:ext cx="11361652" cy="12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erriweather"/>
              <a:buNone/>
            </a:pPr>
            <a:r>
              <a:rPr lang="en-US" sz="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Los cursores explícitos otorgan control total sobre el ciclo de ejecución (</a:t>
            </a:r>
            <a:r>
              <a:rPr lang="en-US" sz="80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%OPEN</a:t>
            </a:r>
            <a:r>
              <a:rPr lang="en-US" sz="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, </a:t>
            </a:r>
            <a:r>
              <a:rPr lang="en-US" sz="80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%FETCH</a:t>
            </a:r>
            <a:r>
              <a:rPr lang="en-US" sz="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, </a:t>
            </a:r>
            <a:r>
              <a:rPr lang="en-US" sz="80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%CLOSE</a:t>
            </a:r>
            <a:r>
              <a:rPr lang="en-US" sz="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). Los complejos integran múltiples JOINs, agregaciones (SUM, NVL) y subconsultas correlacionadas.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628" y="1170980"/>
            <a:ext cx="10578339" cy="520025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/>
          <p:nvPr/>
        </p:nvSpPr>
        <p:spPr>
          <a:xfrm>
            <a:off x="5982882" y="1658502"/>
            <a:ext cx="2419169" cy="302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Valida RN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5982882" y="2046923"/>
            <a:ext cx="4892097" cy="181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00"/>
              <a:buFont typeface="Merriweather"/>
              <a:buNone/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Aplica RN-001 y RN-002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5982882" y="2873493"/>
            <a:ext cx="2419169" cy="302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Acumula Biomasa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5982882" y="3261914"/>
            <a:ext cx="4892097" cy="181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00"/>
              <a:buFont typeface="Merriweather"/>
              <a:buNone/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Suma pesos y mortalidad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5982882" y="4088484"/>
            <a:ext cx="2419169" cy="302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Cursor Detalle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5982882" y="4476905"/>
            <a:ext cx="4892097" cy="181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00"/>
              <a:buFont typeface="Merriweather"/>
              <a:buNone/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Recibe ID_CENTRO y lotes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5993634" y="5303475"/>
            <a:ext cx="2419169" cy="302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Merriweather"/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Cursor Maestro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5993634" y="5691896"/>
            <a:ext cx="4892098" cy="181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00"/>
              <a:buFont typeface="Merriweather"/>
              <a:buNone/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Itera centros activos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719814" y="6429077"/>
            <a:ext cx="11361652" cy="123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800"/>
              <a:buFont typeface="Merriweather"/>
              <a:buNone/>
            </a:pPr>
            <a:r>
              <a:rPr lang="en-US" sz="8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La técnica de cursor parametrizado evita productos cartesianos masivos y consume mínima memoria de servidor, procesando la jerarquía Centro → Lote → Mortalidad en bucles anidados concurrentes.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5556" y="6582305"/>
            <a:ext cx="1196444" cy="228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719814" y="610890"/>
            <a:ext cx="6180181" cy="964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000"/>
              <a:buFont typeface="Merriweather"/>
              <a:buNone/>
            </a:pPr>
            <a:r>
              <a:rPr lang="en-US" sz="30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Estrategia Defensiva: Manejo de Excepciones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719814" y="1748433"/>
            <a:ext cx="3032248" cy="2525018"/>
          </a:xfrm>
          <a:prstGeom prst="roundRect">
            <a:avLst>
              <a:gd fmla="val 2566" name="adj"/>
            </a:avLst>
          </a:prstGeom>
          <a:solidFill>
            <a:srgbClr val="003180"/>
          </a:solidFill>
          <a:ln cap="flat" cmpd="sng" w="95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880346" y="1908969"/>
            <a:ext cx="462745" cy="462756"/>
          </a:xfrm>
          <a:prstGeom prst="ellipse">
            <a:avLst/>
          </a:prstGeom>
          <a:solidFill>
            <a:srgbClr val="609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7541" y="2036167"/>
            <a:ext cx="208255" cy="2082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/>
          <p:nvPr/>
        </p:nvSpPr>
        <p:spPr>
          <a:xfrm>
            <a:off x="880346" y="2487414"/>
            <a:ext cx="2711184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00"/>
              <a:buFont typeface="Merriweather"/>
              <a:buNone/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Predefinidas (Oracle)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880346" y="2797870"/>
            <a:ext cx="2711184" cy="1315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ZERO_DIVIDE</a:t>
            </a: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al calcular densidades con volumen cero; </a:t>
            </a:r>
            <a:r>
              <a:rPr lang="en-US" sz="120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DUP_VAL_ON_INDEX</a:t>
            </a: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para unicidad de RUTs y matrículas; </a:t>
            </a:r>
            <a:r>
              <a:rPr lang="en-US" sz="120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NO_DATA_FOUND</a:t>
            </a: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ante consultas vacías.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3867748" y="1748433"/>
            <a:ext cx="3032248" cy="2525018"/>
          </a:xfrm>
          <a:prstGeom prst="roundRect">
            <a:avLst>
              <a:gd fmla="val 2566" name="adj"/>
            </a:avLst>
          </a:prstGeom>
          <a:solidFill>
            <a:srgbClr val="003180"/>
          </a:solidFill>
          <a:ln cap="flat" cmpd="sng" w="95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"/>
          <p:cNvSpPr/>
          <p:nvPr/>
        </p:nvSpPr>
        <p:spPr>
          <a:xfrm>
            <a:off x="4028280" y="1908969"/>
            <a:ext cx="462745" cy="462756"/>
          </a:xfrm>
          <a:prstGeom prst="ellipse">
            <a:avLst/>
          </a:prstGeom>
          <a:solidFill>
            <a:srgbClr val="609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5475" y="2036167"/>
            <a:ext cx="208255" cy="2082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9"/>
          <p:cNvSpPr/>
          <p:nvPr/>
        </p:nvSpPr>
        <p:spPr>
          <a:xfrm>
            <a:off x="4028280" y="2487414"/>
            <a:ext cx="2711184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00"/>
              <a:buFont typeface="Merriweather"/>
              <a:buNone/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Definidas por el Usuario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4028280" y="2797870"/>
            <a:ext cx="2711184" cy="1308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Merriweather"/>
              <a:buNone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Se declaran como excepciones explícitas (</a:t>
            </a:r>
            <a:r>
              <a:rPr lang="en-US" sz="120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EXCEPTION</a:t>
            </a: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) y se accionan con </a:t>
            </a:r>
            <a:r>
              <a:rPr b="1"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RAISE</a:t>
            </a: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. e_exceso_biomasa frena exceso de biomasa (RN-001); e_zona_restringida bloquea zonas restringidas (RN-002).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719814" y="4389140"/>
            <a:ext cx="6180181" cy="1857970"/>
          </a:xfrm>
          <a:prstGeom prst="roundRect">
            <a:avLst>
              <a:gd fmla="val 3487" name="adj"/>
            </a:avLst>
          </a:prstGeom>
          <a:solidFill>
            <a:srgbClr val="003180"/>
          </a:solidFill>
          <a:ln cap="flat" cmpd="sng" w="9525">
            <a:solidFill>
              <a:srgbClr val="194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880346" y="4549676"/>
            <a:ext cx="462745" cy="462756"/>
          </a:xfrm>
          <a:prstGeom prst="ellipse">
            <a:avLst/>
          </a:prstGeom>
          <a:solidFill>
            <a:srgbClr val="609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7541" y="4676874"/>
            <a:ext cx="208255" cy="20826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880346" y="5128121"/>
            <a:ext cx="5859117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00"/>
              <a:buFont typeface="Merriweather"/>
              <a:buNone/>
            </a:pPr>
            <a:r>
              <a:rPr lang="en-US" sz="15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Principio ACID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880346" y="5438577"/>
            <a:ext cx="5859117" cy="647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00"/>
              <a:buFont typeface="Merriweather"/>
              <a:buNone/>
            </a:pPr>
            <a:r>
              <a:rPr lang="en-US" sz="120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Las operaciones anómalas se abortan antes de persistir datos corruptos, garantizando consistencia ante incidentes biológicos o fallas de infraestructura.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/>
          <p:nvPr/>
        </p:nvSpPr>
        <p:spPr>
          <a:xfrm>
            <a:off x="719814" y="613668"/>
            <a:ext cx="10752067" cy="572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600"/>
              <a:buFont typeface="Merriweather"/>
              <a:buNone/>
            </a:pPr>
            <a:r>
              <a:rPr lang="en-US" sz="36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Integral: Componentes PL/SQL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10"/>
          <p:cNvGraphicFramePr/>
          <p:nvPr/>
        </p:nvGraphicFramePr>
        <p:xfrm>
          <a:off x="719814" y="15123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{43B4009E-EB0E-4017-8A0F-21330B39520A}</a:tableStyleId>
              </a:tblPr>
              <a:tblGrid>
                <a:gridCol w="2150425"/>
                <a:gridCol w="3010575"/>
                <a:gridCol w="3440650"/>
                <a:gridCol w="2150425"/>
              </a:tblGrid>
              <a:tr h="48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Componente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Propósito en BD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Implementación en SIGMA-Aqua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Beneficio Clave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</a:tr>
              <a:tr h="105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PROCEDURE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Ejecutar secuencias DML transaccionales complejas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SP_TRASLADAR_LOTE</a:t>
                      </a: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: efectúa traslado entre centros, descuenta inventario y valida embarcación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Reutilización y homogeneidad transaccional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</a:tr>
              <a:tr h="105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FUNCTION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Retornar resultado determinista escalar o compuesto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FN_CALCULAR_FCR</a:t>
                      </a: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: determina tasa de conversión alimenticia (Alimento / Biomasa)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Invocación en cláusulas SELECT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</a:tr>
              <a:tr h="106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PACKAGE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Encapsular tipos, variables y subprogramas en Header y Body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PKG_PRODUCCION</a:t>
                      </a: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(siembra, biometría) y </a:t>
                      </a: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PKG_SANIDAD</a:t>
                      </a: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(diagnósticos, tratamientos)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Modularidad y menor recompilación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2"/>
                      </a:srgbClr>
                    </a:solidFill>
                  </a:tcPr>
                </a:tc>
              </a:tr>
              <a:tr h="106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TRIGGER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Ejecución automática reactiva ante eventos DML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TRG_ACTUALIZA_PECES</a:t>
                      </a: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: recalcula </a:t>
                      </a: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CANTIDAD_ACTUAL_LOTE</a:t>
                      </a: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 al ingresar mortalidades (RN-003)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400"/>
                        <a:buFont typeface="Merriweather"/>
                        <a:buNone/>
                      </a:pPr>
                      <a:r>
                        <a:rPr lang="en-US" sz="140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Integridad de saldos sin front-end</a:t>
                      </a:r>
                      <a:endParaRPr sz="140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83200" marL="1832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2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19" name="Google Shape;1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556" y="6582305"/>
            <a:ext cx="1196444" cy="228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/>
          <p:nvPr/>
        </p:nvSpPr>
        <p:spPr>
          <a:xfrm>
            <a:off x="719814" y="613668"/>
            <a:ext cx="10752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600"/>
              <a:buFont typeface="Merriweather"/>
              <a:buNone/>
            </a:pPr>
            <a:r>
              <a:rPr lang="en-US" sz="36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Integral: Componentes PL/SQL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556" y="6582305"/>
            <a:ext cx="1196444" cy="22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925" y="1269502"/>
            <a:ext cx="10568150" cy="537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/>
          <p:nvPr/>
        </p:nvSpPr>
        <p:spPr>
          <a:xfrm>
            <a:off x="719814" y="626566"/>
            <a:ext cx="10752067" cy="632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950"/>
              <a:buFont typeface="Merriweather"/>
              <a:buNone/>
            </a:pPr>
            <a:r>
              <a:rPr lang="en-US" sz="39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Interacción en Capas y Análisis Crítico</a:t>
            </a:r>
            <a:endParaRPr sz="3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719814" y="1757462"/>
            <a:ext cx="5129084" cy="316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1950"/>
              <a:buFont typeface="Merriweather"/>
              <a:buNone/>
            </a:pPr>
            <a:r>
              <a:rPr lang="en-US" sz="19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Flujo Operacional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719814" y="2273002"/>
            <a:ext cx="5129084" cy="19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50"/>
              <a:buFont typeface="Merriweather"/>
              <a:buNone/>
            </a:pP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El cliente interactúa exclusivamente con </a:t>
            </a:r>
            <a:r>
              <a:rPr b="1"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Packages públicos</a:t>
            </a: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(</a:t>
            </a:r>
            <a:r>
              <a:rPr lang="en-US" sz="155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PKG_PRODUCCION</a:t>
            </a: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y </a:t>
            </a:r>
            <a:r>
              <a:rPr lang="en-US" sz="155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PKG_SANIDAD</a:t>
            </a: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). Los procedimientos validan reglas intermedias e invocan funciones biológicas puras. Los Triggers recalculan saldos de biomasa al persistir cambios, sin intervención humana.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6349147" y="1757462"/>
            <a:ext cx="5129084" cy="316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1950"/>
              <a:buFont typeface="Merriweather"/>
              <a:buNone/>
            </a:pPr>
            <a:r>
              <a:rPr lang="en-US" sz="19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Limitaciones y Mitigación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5047" y="2307878"/>
            <a:ext cx="303701" cy="303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2"/>
          <p:cNvSpPr/>
          <p:nvPr/>
        </p:nvSpPr>
        <p:spPr>
          <a:xfrm>
            <a:off x="7007050" y="2297906"/>
            <a:ext cx="4471181" cy="9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50"/>
              <a:buFont typeface="Merriweather"/>
              <a:buNone/>
            </a:pPr>
            <a:r>
              <a:rPr b="1"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Triggers Mutantes (ORA-04091):</a:t>
            </a: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Se mitigan con </a:t>
            </a:r>
            <a:r>
              <a:rPr lang="en-US" sz="155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COMPOUND TRIGGERS</a:t>
            </a: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o transfiriendo la actualización al procedimiento de control.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5047" y="3677196"/>
            <a:ext cx="303701" cy="303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2"/>
          <p:cNvSpPr/>
          <p:nvPr/>
        </p:nvSpPr>
        <p:spPr>
          <a:xfrm>
            <a:off x="7007050" y="3667224"/>
            <a:ext cx="4471181" cy="9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50"/>
              <a:buFont typeface="Merriweather"/>
              <a:buNone/>
            </a:pPr>
            <a:r>
              <a:rPr b="1"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Overhead en tablas masivas:</a:t>
            </a: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Se mitiga con </a:t>
            </a:r>
            <a:r>
              <a:rPr lang="en-US" sz="155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FORALL</a:t>
            </a: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y </a:t>
            </a:r>
            <a:r>
              <a:rPr lang="en-US" sz="155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BULK COLLECT</a:t>
            </a: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en procesamiento por lotes.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5047" y="5046514"/>
            <a:ext cx="303701" cy="303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2"/>
          <p:cNvSpPr/>
          <p:nvPr/>
        </p:nvSpPr>
        <p:spPr>
          <a:xfrm>
            <a:off x="7007050" y="5036542"/>
            <a:ext cx="4471181" cy="9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50"/>
              <a:buFont typeface="Merriweather"/>
              <a:buNone/>
            </a:pPr>
            <a:r>
              <a:rPr b="1"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Seguridad:</a:t>
            </a: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Principio de menor privilegio: solo </a:t>
            </a:r>
            <a:r>
              <a:rPr lang="en-US" sz="155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EXECUTE</a:t>
            </a: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sobre Packages, bloqueando acceso directo a tablas base.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95556" y="6582305"/>
            <a:ext cx="1196444" cy="228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/>
          <p:nvPr/>
        </p:nvSpPr>
        <p:spPr>
          <a:xfrm>
            <a:off x="719814" y="626566"/>
            <a:ext cx="107520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950"/>
              <a:buFont typeface="Merriweather"/>
              <a:buNone/>
            </a:pPr>
            <a:r>
              <a:rPr lang="en-US" sz="39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Interacción en Capas y Análisis Crítico</a:t>
            </a:r>
            <a:endParaRPr sz="3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556" y="6582305"/>
            <a:ext cx="1196444" cy="22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11675"/>
            <a:ext cx="11858949" cy="529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"/>
          <p:cNvSpPr/>
          <p:nvPr/>
        </p:nvSpPr>
        <p:spPr>
          <a:xfrm>
            <a:off x="5291700" y="590550"/>
            <a:ext cx="6180181" cy="1004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150"/>
              <a:buFont typeface="Merriweather"/>
              <a:buNone/>
            </a:pPr>
            <a:r>
              <a:rPr lang="en-US" sz="315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Conclusiones y Logros Principales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1700" y="1783159"/>
            <a:ext cx="3027287" cy="252283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4"/>
          <p:cNvSpPr/>
          <p:nvPr/>
        </p:nvSpPr>
        <p:spPr>
          <a:xfrm>
            <a:off x="6708905" y="1903611"/>
            <a:ext cx="192777" cy="24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erriweather"/>
              <a:buNone/>
            </a:pPr>
            <a:r>
              <a:rPr lang="en-US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5471380" y="2425898"/>
            <a:ext cx="2667925" cy="251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50"/>
              <a:buFont typeface="Merriweather"/>
              <a:buNone/>
            </a:pP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Rendimiento en Memoria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5471380" y="2752328"/>
            <a:ext cx="2667925" cy="114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RECORD y VARRAY modelan los turnos diarios de alimentación y biometría, reduciendo consultas redundantes a tablas maestras.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4495" y="1783159"/>
            <a:ext cx="3027386" cy="252283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/>
          <p:nvPr/>
        </p:nvSpPr>
        <p:spPr>
          <a:xfrm>
            <a:off x="9861700" y="1903611"/>
            <a:ext cx="192777" cy="24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erriweather"/>
              <a:buNone/>
            </a:pPr>
            <a:r>
              <a:rPr lang="en-US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8624176" y="2425898"/>
            <a:ext cx="2668025" cy="251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50"/>
              <a:buFont typeface="Merriweather"/>
              <a:buNone/>
            </a:pP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Jerarquía Eficiente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8624176" y="2752328"/>
            <a:ext cx="2668025" cy="1373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Cursores explícitos parametrizados en bucles anidados resolvieron la jerarquía Centro → Lote → Mortalidad, evitando productos cartesianos masivos.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1700" y="4431506"/>
            <a:ext cx="6180181" cy="183584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4"/>
          <p:cNvSpPr/>
          <p:nvPr/>
        </p:nvSpPr>
        <p:spPr>
          <a:xfrm>
            <a:off x="8285352" y="4551958"/>
            <a:ext cx="192777" cy="241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erriweather"/>
              <a:buNone/>
            </a:pPr>
            <a:r>
              <a:rPr lang="en-US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5471380" y="5074245"/>
            <a:ext cx="5820820" cy="251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550"/>
              <a:buFont typeface="Merriweather"/>
              <a:buNone/>
            </a:pPr>
            <a:r>
              <a:rPr lang="en-US" sz="15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Seguridad Normativa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5471380" y="5400675"/>
            <a:ext cx="5820820" cy="686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250"/>
              <a:buFont typeface="Merriweather"/>
              <a:buNone/>
            </a:pPr>
            <a:r>
              <a:rPr lang="en-US" sz="12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El sistema defensivo de excepciones previene violaciones de capacidad de carga (RN-001) y asegura bloqueo automático ante cuarentenas (RN-002), alineado a Sernapesca.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95556" y="6582305"/>
            <a:ext cx="1196444" cy="228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>
            <a:off x="719814" y="580628"/>
            <a:ext cx="10752067" cy="542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3400"/>
              <a:buFont typeface="Merriweather"/>
              <a:buNone/>
            </a:pPr>
            <a:r>
              <a:rPr lang="en-US" sz="34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Recomendaciones Futuras y Modelo Relacional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719814" y="1488877"/>
            <a:ext cx="5164306" cy="27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1700"/>
              <a:buFont typeface="Merriweather"/>
              <a:buNone/>
            </a:pPr>
            <a:r>
              <a:rPr lang="en-US" sz="17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Próximos Pasos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719814" y="1924745"/>
            <a:ext cx="347059" cy="216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 Light"/>
              <a:buNone/>
            </a:pPr>
            <a:r>
              <a:rPr lang="en-US" sz="1350">
                <a:solidFill>
                  <a:srgbClr val="E2E6E9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01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719814" y="2200573"/>
            <a:ext cx="5164306" cy="19050"/>
          </a:xfrm>
          <a:prstGeom prst="rect">
            <a:avLst/>
          </a:prstGeom>
          <a:solidFill>
            <a:srgbClr val="609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719814" y="2325390"/>
            <a:ext cx="5164306" cy="76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b="1"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Paquetes Compilados:</a:t>
            </a: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Convertir bloques anónimos en </a:t>
            </a:r>
            <a:r>
              <a:rPr lang="en-US" sz="135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PKG_PRODUCCION</a:t>
            </a: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y </a:t>
            </a:r>
            <a:r>
              <a:rPr lang="en-US" sz="135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PKG_SANIDAD</a:t>
            </a: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para la Evaluación Parcial 2.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719814" y="3369469"/>
            <a:ext cx="347059" cy="216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 Light"/>
              <a:buNone/>
            </a:pPr>
            <a:r>
              <a:rPr lang="en-US" sz="1350">
                <a:solidFill>
                  <a:srgbClr val="E2E6E9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02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719814" y="3645297"/>
            <a:ext cx="5164306" cy="19050"/>
          </a:xfrm>
          <a:prstGeom prst="rect">
            <a:avLst/>
          </a:prstGeom>
          <a:solidFill>
            <a:srgbClr val="609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719814" y="3770114"/>
            <a:ext cx="5164306" cy="76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b="1"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DBMS_SCHEDULER:</a:t>
            </a: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Calendarizar rutinas nocturnas para consolidar mortalidad, proyectar biomasa y alertar a veterinarios.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719814" y="4814193"/>
            <a:ext cx="347059" cy="216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 Light"/>
              <a:buNone/>
            </a:pPr>
            <a:r>
              <a:rPr lang="en-US" sz="1350">
                <a:solidFill>
                  <a:srgbClr val="E2E6E9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03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719814" y="5090021"/>
            <a:ext cx="5164306" cy="19050"/>
          </a:xfrm>
          <a:prstGeom prst="rect">
            <a:avLst/>
          </a:prstGeom>
          <a:solidFill>
            <a:srgbClr val="609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719814" y="5214838"/>
            <a:ext cx="5164306" cy="76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b="1"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Bulk Binding:</a:t>
            </a: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Implementar </a:t>
            </a:r>
            <a:r>
              <a:rPr lang="en-US" sz="1350">
                <a:solidFill>
                  <a:srgbClr val="E2E6E9"/>
                </a:solidFill>
                <a:highlight>
                  <a:srgbClr val="162227"/>
                </a:highlight>
                <a:latin typeface="Consolas"/>
                <a:ea typeface="Consolas"/>
                <a:cs typeface="Consolas"/>
                <a:sym typeface="Consolas"/>
              </a:rPr>
              <a:t>FORALL / BULK COLLECT</a:t>
            </a: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 para registro masivo de alimentación por robots submarinos, optimizando rendimiento en </a:t>
            </a:r>
            <a:r>
              <a:rPr b="1"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80%</a:t>
            </a: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6313925" y="1488877"/>
            <a:ext cx="5164306" cy="27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0F0"/>
              </a:buClr>
              <a:buSzPts val="1700"/>
              <a:buFont typeface="Merriweather"/>
              <a:buNone/>
            </a:pPr>
            <a:r>
              <a:rPr lang="en-US" sz="1700">
                <a:solidFill>
                  <a:srgbClr val="F5F0F0"/>
                </a:solidFill>
                <a:latin typeface="Merriweather"/>
                <a:ea typeface="Merriweather"/>
                <a:cs typeface="Merriweather"/>
                <a:sym typeface="Merriweather"/>
              </a:rPr>
              <a:t>Modelo Relacional — 31 Entidades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15"/>
          <p:cNvGraphicFramePr/>
          <p:nvPr/>
        </p:nvGraphicFramePr>
        <p:xfrm>
          <a:off x="6313925" y="1924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{43B4009E-EB0E-4017-8A0F-21330B39520A}</a:tableStyleId>
              </a:tblPr>
              <a:tblGrid>
                <a:gridCol w="2582150"/>
                <a:gridCol w="2582150"/>
              </a:tblGrid>
              <a:tr h="44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Módulo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Tablas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Infraestructura y Concesión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Población y Nutrición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Vigilancia Sanitaria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6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Logística y Faenas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Abastecimiento y Activos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7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Seguridad y Personal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6E9"/>
                        </a:buClr>
                        <a:buSzPts val="1350"/>
                        <a:buFont typeface="Merriweather"/>
                        <a:buNone/>
                      </a:pPr>
                      <a:r>
                        <a:rPr lang="en-US" sz="1350" u="none" cap="none" strike="noStrike">
                          <a:solidFill>
                            <a:srgbClr val="E2E6E9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7</a:t>
                      </a:r>
                      <a:endParaRPr sz="1350" u="none" cap="none" strike="noStrike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" marB="6350" marR="173550" marL="173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15"/>
          <p:cNvSpPr/>
          <p:nvPr/>
        </p:nvSpPr>
        <p:spPr>
          <a:xfrm>
            <a:off x="6313925" y="2361264"/>
            <a:ext cx="5164306" cy="10847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6313925" y="3067684"/>
            <a:ext cx="5164306" cy="10847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6313925" y="3518225"/>
            <a:ext cx="5164306" cy="10847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6313925" y="3968766"/>
            <a:ext cx="5164306" cy="10847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6313925" y="4419307"/>
            <a:ext cx="5164306" cy="10847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6313925" y="4869848"/>
            <a:ext cx="5164306" cy="10847"/>
          </a:xfrm>
          <a:prstGeom prst="rect">
            <a:avLst/>
          </a:prstGeom>
          <a:solidFill>
            <a:srgbClr val="FFFFFF">
              <a:alpha val="2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6313925" y="5505549"/>
            <a:ext cx="5773891" cy="255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350"/>
              <a:buFont typeface="Merriweather"/>
              <a:buNone/>
            </a:pPr>
            <a:r>
              <a:rPr lang="en-US" sz="1350">
                <a:solidFill>
                  <a:srgbClr val="E2E6E9"/>
                </a:solidFill>
                <a:latin typeface="Merriweather"/>
                <a:ea typeface="Merriweather"/>
                <a:cs typeface="Merriweather"/>
                <a:sym typeface="Merriweather"/>
              </a:rPr>
              <a:t>Diseñado en Oracle SQL Developer Data Modeler 24.3.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556" y="6582305"/>
            <a:ext cx="1196444" cy="228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